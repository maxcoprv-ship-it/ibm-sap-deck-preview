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9144000" cy="5148072"/>
  <p:notesSz cx="5148072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80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303520" cy="5148072"/>
          </a:xfrm>
          <a:prstGeom prst="rect">
            <a:avLst/>
          </a:prstGeom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3168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31536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9904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8272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840480" y="457200"/>
            <a:ext cx="5303520" cy="0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840480" y="1243584"/>
            <a:ext cx="5303520" cy="0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40480" y="2029968"/>
            <a:ext cx="5303520" cy="0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840480" y="2816352"/>
            <a:ext cx="5303520" cy="0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840480" y="3602736"/>
            <a:ext cx="5303520" cy="0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840480" y="4389120"/>
            <a:ext cx="5303520" cy="0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12801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– SAP</a:t>
            </a:r>
            <a:endParaRPr lang="en-US" sz="2800" dirty="0"/>
          </a:p>
        </p:txBody>
      </p:sp>
      <p:sp>
        <p:nvSpPr>
          <p:cNvPr id="19" name="Text 17"/>
          <p:cNvSpPr/>
          <p:nvPr/>
        </p:nvSpPr>
        <p:spPr>
          <a:xfrm>
            <a:off x="32004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Milano, 26/10/2026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320040" y="4370832"/>
            <a:ext cx="640080" cy="3200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20040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</a:t>
            </a:r>
            <a:endParaRPr lang="en-US" sz="1386" dirty="0"/>
          </a:p>
        </p:txBody>
      </p:sp>
      <p:sp>
        <p:nvSpPr>
          <p:cNvPr id="22" name="Shape 20"/>
          <p:cNvSpPr/>
          <p:nvPr/>
        </p:nvSpPr>
        <p:spPr>
          <a:xfrm>
            <a:off x="1051560" y="4370832"/>
            <a:ext cx="640080" cy="320040"/>
          </a:xfrm>
          <a:prstGeom prst="rect">
            <a:avLst/>
          </a:prstGeom>
          <a:solidFill>
            <a:srgbClr val="1B73BE"/>
          </a:solidFill>
          <a:ln w="12700">
            <a:solidFill>
              <a:srgbClr val="1B73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51560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</a:t>
            </a:r>
            <a:endParaRPr lang="en-US" sz="1210" dirty="0"/>
          </a:p>
        </p:txBody>
      </p:sp>
      <p:sp>
        <p:nvSpPr>
          <p:cNvPr id="24" name="Text 22"/>
          <p:cNvSpPr/>
          <p:nvPr/>
        </p:nvSpPr>
        <p:spPr>
          <a:xfrm>
            <a:off x="4114800" y="1801825"/>
            <a:ext cx="4754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1E40AF">
                    <a:alpha val="80000"/>
                  </a:srgbClr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× SAP</a:t>
            </a:r>
            <a:endParaRPr lang="en-US" sz="320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Partecipanti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58368"/>
            <a:ext cx="4160520" cy="4169664"/>
          </a:xfrm>
          <a:prstGeom prst="rect">
            <a:avLst/>
          </a:prstGeom>
          <a:solidFill>
            <a:srgbClr val="F0F7FF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709160" y="658368"/>
            <a:ext cx="4160520" cy="4169664"/>
          </a:xfrm>
          <a:prstGeom prst="rect">
            <a:avLst/>
          </a:prstGeom>
          <a:solidFill>
            <a:srgbClr val="FFF5F0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658368"/>
            <a:ext cx="416052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658368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0" y="704088"/>
            <a:ext cx="548640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49040" y="704088"/>
            <a:ext cx="5486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71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</a:t>
            </a:r>
            <a:endParaRPr lang="en-US" sz="871" dirty="0"/>
          </a:p>
        </p:txBody>
      </p:sp>
      <p:sp>
        <p:nvSpPr>
          <p:cNvPr id="11" name="Shape 9"/>
          <p:cNvSpPr/>
          <p:nvPr/>
        </p:nvSpPr>
        <p:spPr>
          <a:xfrm>
            <a:off x="4709160" y="658368"/>
            <a:ext cx="4160520" cy="274320"/>
          </a:xfrm>
          <a:prstGeom prst="rect">
            <a:avLst/>
          </a:prstGeom>
          <a:solidFill>
            <a:srgbClr val="1B73BE"/>
          </a:solidFill>
          <a:ln w="12700">
            <a:solidFill>
              <a:srgbClr val="1B73B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18888" y="658368"/>
            <a:ext cx="20802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11480" y="9966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Tiziana Tornaghi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11480" y="1197864"/>
            <a:ext cx="3931920" cy="4553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Country Managing Partner, IBM Consulting Italy</a:t>
            </a:r>
            <a:endParaRPr lang="en-US" sz="850" dirty="0"/>
          </a:p>
        </p:txBody>
      </p:sp>
      <p:sp>
        <p:nvSpPr>
          <p:cNvPr id="15" name="Shape 13"/>
          <p:cNvSpPr/>
          <p:nvPr/>
        </p:nvSpPr>
        <p:spPr>
          <a:xfrm>
            <a:off x="365760" y="1680667"/>
            <a:ext cx="3977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11480" y="1772107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Filippo Moroni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11480" y="1973275"/>
            <a:ext cx="3931920" cy="4553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Senior Partner, Offering &amp; Growth and Strategic Sales Leader, IBM Consulting Italy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365760" y="2456078"/>
            <a:ext cx="3977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254751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Cristina Ingrassia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11480" y="2748686"/>
            <a:ext cx="3931920" cy="4553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VP Senior Partner, Commercial Sector &amp; Lifescience Industry Leader, IBM Consulting, Italy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365760" y="3231490"/>
            <a:ext cx="3977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11480" y="332293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Daria Buttafarro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11480" y="3524098"/>
            <a:ext cx="3931920" cy="4553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Associate Partner, Business Applications Service Line Leader, IBM Consulting, Italy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365760" y="4006901"/>
            <a:ext cx="3977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1480" y="4098341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Massimo Coggiola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11480" y="4299509"/>
            <a:ext cx="3931920" cy="455371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Business Applications Service Line, IBM Consulting Italy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4846320" y="996696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Carla Masperi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46320" y="1197864"/>
            <a:ext cx="393192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M.D. SAP Italia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800600" y="1874520"/>
            <a:ext cx="3977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1965960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Adriano Ceccherini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846320" y="2167128"/>
            <a:ext cx="393192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COO SAP Italia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800600" y="2843784"/>
            <a:ext cx="3977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46320" y="2935224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Marco Cameroni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46320" y="3136392"/>
            <a:ext cx="393192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Channel Head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4800600" y="3813048"/>
            <a:ext cx="3977640" cy="0"/>
          </a:xfrm>
          <a:prstGeom prst="line">
            <a:avLst/>
          </a:prstGeom>
          <a:noFill/>
          <a:ln w="6350">
            <a:solidFill>
              <a:srgbClr val="E0E0E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904488"/>
            <a:ext cx="3931920" cy="2011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Matteo Mazzalveri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846320" y="4105656"/>
            <a:ext cx="3931920" cy="64922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Partner Manager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39" name="Text 37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</a:t>
            </a:r>
            <a:endParaRPr lang="en-US" sz="7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2026 : Agenda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77240"/>
            <a:ext cx="194310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777240"/>
            <a:ext cx="1943100" cy="640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941832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411480" y="1527048"/>
            <a:ext cx="16687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Organizational Update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411480" y="2350008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SAP/IBM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411480" y="2743200"/>
            <a:ext cx="1668780" cy="2560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2743200"/>
            <a:ext cx="16687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 min.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491740" y="777240"/>
            <a:ext cx="194310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491740" y="777240"/>
            <a:ext cx="1943100" cy="640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28900" y="941832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2628900" y="1527048"/>
            <a:ext cx="16687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Strategy &amp; GTM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2628900" y="2350008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628900" y="2743200"/>
            <a:ext cx="1668780" cy="2560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28900" y="2743200"/>
            <a:ext cx="16687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min.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4709160" y="777240"/>
            <a:ext cx="194310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777240"/>
            <a:ext cx="1943100" cy="640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941832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3600" dirty="0"/>
          </a:p>
        </p:txBody>
      </p:sp>
      <p:sp>
        <p:nvSpPr>
          <p:cNvPr id="22" name="Text 20"/>
          <p:cNvSpPr/>
          <p:nvPr/>
        </p:nvSpPr>
        <p:spPr>
          <a:xfrm>
            <a:off x="4846320" y="1527048"/>
            <a:ext cx="16687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Consulting SAP Strategy &amp; GTM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4846320" y="2350008"/>
            <a:ext cx="16687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46320" y="2743200"/>
            <a:ext cx="1668780" cy="2560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46320" y="2743200"/>
            <a:ext cx="16687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 min.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6926580" y="777240"/>
            <a:ext cx="1943100" cy="292608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926580" y="777240"/>
            <a:ext cx="1943100" cy="640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063740" y="941832"/>
            <a:ext cx="166878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3600" dirty="0"/>
          </a:p>
        </p:txBody>
      </p:sp>
      <p:sp>
        <p:nvSpPr>
          <p:cNvPr id="29" name="Text 27"/>
          <p:cNvSpPr/>
          <p:nvPr/>
        </p:nvSpPr>
        <p:spPr>
          <a:xfrm>
            <a:off x="7063740" y="1527048"/>
            <a:ext cx="16687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Open Discussion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31" name="Text 29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</a:t>
            </a:r>
            <a:endParaRPr lang="en-US" sz="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Organization IBM Consulting Italy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621792"/>
            <a:ext cx="2194560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47872" y="685800"/>
            <a:ext cx="20482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Tiziana Tornaghi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47872" y="905256"/>
            <a:ext cx="2048256" cy="2607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BFDB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Consulting Italy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BFDB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Managing Partner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" y="1325880"/>
            <a:ext cx="6839712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Cristina Ingrassia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Commercial Sector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4572000" y="1188720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1152144" y="1325880"/>
            <a:ext cx="6839712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862072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075688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148840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Filippo Moroni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2148840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Offering &amp; Growth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Sales</a:t>
            </a:r>
            <a:endParaRPr lang="en-US" sz="700" dirty="0"/>
          </a:p>
        </p:txBody>
      </p:sp>
      <p:sp>
        <p:nvSpPr>
          <p:cNvPr id="20" name="Shape 18"/>
          <p:cNvSpPr/>
          <p:nvPr/>
        </p:nvSpPr>
        <p:spPr>
          <a:xfrm>
            <a:off x="4572000" y="1188720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152144" y="1325880"/>
            <a:ext cx="6839712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572000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785616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58768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Claudia Bai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858768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Solutions &amp; Delivery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4572000" y="1188720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152144" y="1325880"/>
            <a:ext cx="6839712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281928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495544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568696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Daniela Scaramuccia</a:t>
            </a:r>
            <a:endParaRPr lang="en-US" sz="850" dirty="0"/>
          </a:p>
        </p:txBody>
      </p:sp>
      <p:sp>
        <p:nvSpPr>
          <p:cNvPr id="31" name="Text 29"/>
          <p:cNvSpPr/>
          <p:nvPr/>
        </p:nvSpPr>
        <p:spPr>
          <a:xfrm>
            <a:off x="5568696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Greater Public Sector</a:t>
            </a:r>
            <a:endParaRPr lang="en-US" sz="700" dirty="0"/>
          </a:p>
        </p:txBody>
      </p:sp>
      <p:sp>
        <p:nvSpPr>
          <p:cNvPr id="32" name="Shape 30"/>
          <p:cNvSpPr/>
          <p:nvPr/>
        </p:nvSpPr>
        <p:spPr>
          <a:xfrm>
            <a:off x="4572000" y="1188720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152144" y="1325880"/>
            <a:ext cx="6839712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991856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205472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278624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Raffaele Guerra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7278624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Services Sector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1152144" y="2039112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-356616" y="2176272"/>
            <a:ext cx="301752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-356616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-1065276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-1019556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Fabio Cesaretti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Trenitalia</a:t>
            </a:r>
            <a:endParaRPr lang="en-US" sz="700" dirty="0"/>
          </a:p>
        </p:txBody>
      </p:sp>
      <p:sp>
        <p:nvSpPr>
          <p:cNvPr id="43" name="Shape 41"/>
          <p:cNvSpPr/>
          <p:nvPr/>
        </p:nvSpPr>
        <p:spPr>
          <a:xfrm>
            <a:off x="1152144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443484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89204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Fulvio D'Aloia Cascone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2660904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1952244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997964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Marco Carlini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4572000" y="2039112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817620" y="2176272"/>
            <a:ext cx="150876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817620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108960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154680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Gaetano Scioscia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FutureNow Ctr</a:t>
            </a:r>
            <a:endParaRPr lang="en-US" sz="700" dirty="0"/>
          </a:p>
        </p:txBody>
      </p:sp>
      <p:sp>
        <p:nvSpPr>
          <p:cNvPr id="54" name="Shape 52"/>
          <p:cNvSpPr/>
          <p:nvPr/>
        </p:nvSpPr>
        <p:spPr>
          <a:xfrm>
            <a:off x="5326380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617720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663440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Stefano Brambilla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Sistemi Inf.</a:t>
            </a:r>
            <a:endParaRPr lang="en-US" sz="700" dirty="0"/>
          </a:p>
        </p:txBody>
      </p:sp>
      <p:sp>
        <p:nvSpPr>
          <p:cNvPr id="57" name="Shape 55"/>
          <p:cNvSpPr/>
          <p:nvPr/>
        </p:nvSpPr>
        <p:spPr>
          <a:xfrm>
            <a:off x="7991856" y="2039112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7991856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7283196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7328916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Insurance Industry</a:t>
            </a:r>
            <a:endParaRPr lang="en-US" sz="700" dirty="0"/>
          </a:p>
        </p:txBody>
      </p:sp>
      <p:sp>
        <p:nvSpPr>
          <p:cNvPr id="61" name="Text 59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62" name="Text 60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4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4160520" cy="2926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217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 Main Objective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914400"/>
            <a:ext cx="4160520" cy="3913632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11480" y="969264"/>
            <a:ext cx="39319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Increase footprint of IBM Consulting in the SAP market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Accelerate Rise Adoption, AI, SAP BDC, SAP Toolchain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Bring SAP Innovation in the market (SAP AI, SAP BDC)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Develop selected customer on SAP RISE, SAP AI, SAP BDC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Increase CCFLEX adoption (C&amp;S, A&amp;O)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Increase SAP Business AI Partner-Led Adoption Incentive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709160" y="621792"/>
            <a:ext cx="4160520" cy="29260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18888" y="621792"/>
            <a:ext cx="40233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Investment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914400"/>
            <a:ext cx="4160520" cy="3913632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46320" y="969264"/>
            <a:ext cx="3931920" cy="3794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Dedicated SAP Delivery practices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 Now delivery center (in/out shore)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Campaign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Events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10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People (Hiring &amp; SAP Certification)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</a:t>
            </a:r>
            <a:endParaRPr lang="en-US" sz="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customer, event, activities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4023360" cy="2560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21792"/>
            <a:ext cx="3886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Some Join Italian customer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0040" y="932688"/>
            <a:ext cx="1207008" cy="237744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9326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Fincantieri</a:t>
            </a:r>
            <a:endParaRPr lang="en-US" sz="750" dirty="0"/>
          </a:p>
        </p:txBody>
      </p:sp>
      <p:sp>
        <p:nvSpPr>
          <p:cNvPr id="9" name="Shape 7"/>
          <p:cNvSpPr/>
          <p:nvPr/>
        </p:nvSpPr>
        <p:spPr>
          <a:xfrm>
            <a:off x="1600200" y="932688"/>
            <a:ext cx="1207008" cy="237744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45920" y="9326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Bolton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2880360" y="932688"/>
            <a:ext cx="1207008" cy="237744"/>
          </a:xfrm>
          <a:prstGeom prst="rect">
            <a:avLst/>
          </a:prstGeom>
          <a:solidFill>
            <a:srgbClr val="0353A4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926080" y="93268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Angelini Pharma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320040" y="1234440"/>
            <a:ext cx="1207008" cy="237744"/>
          </a:xfrm>
          <a:prstGeom prst="rect">
            <a:avLst/>
          </a:prstGeom>
          <a:solidFill>
            <a:srgbClr val="023E8A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3444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Eni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1600200" y="1234440"/>
            <a:ext cx="1207008" cy="237744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645920" y="123444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Recordati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2880360" y="1234440"/>
            <a:ext cx="1207008" cy="237744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26080" y="123444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Campari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20040" y="1536192"/>
            <a:ext cx="1207008" cy="237744"/>
          </a:xfrm>
          <a:prstGeom prst="rect">
            <a:avLst/>
          </a:prstGeom>
          <a:solidFill>
            <a:srgbClr val="0353A4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1536192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Tinexta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1600200" y="1536192"/>
            <a:ext cx="1207008" cy="237744"/>
          </a:xfrm>
          <a:prstGeom prst="rect">
            <a:avLst/>
          </a:prstGeom>
          <a:solidFill>
            <a:srgbClr val="023E8A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645920" y="1536192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Edison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2880360" y="1536192"/>
            <a:ext cx="1207008" cy="237744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926080" y="1536192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SDF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320040" y="1837944"/>
            <a:ext cx="1207008" cy="237744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83794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iG Italgas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1600200" y="1837944"/>
            <a:ext cx="1207008" cy="237744"/>
          </a:xfrm>
          <a:prstGeom prst="rect">
            <a:avLst/>
          </a:prstGeom>
          <a:solidFill>
            <a:srgbClr val="0353A4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1645920" y="183794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COLACEM</a:t>
            </a:r>
            <a:endParaRPr lang="en-US" sz="750" dirty="0"/>
          </a:p>
        </p:txBody>
      </p:sp>
      <p:sp>
        <p:nvSpPr>
          <p:cNvPr id="29" name="Shape 27"/>
          <p:cNvSpPr/>
          <p:nvPr/>
        </p:nvSpPr>
        <p:spPr>
          <a:xfrm>
            <a:off x="2880360" y="1837944"/>
            <a:ext cx="1207008" cy="237744"/>
          </a:xfrm>
          <a:prstGeom prst="rect">
            <a:avLst/>
          </a:prstGeom>
          <a:solidFill>
            <a:srgbClr val="023E8A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26080" y="1837944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Heidelberg Materials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320040" y="2139696"/>
            <a:ext cx="1207008" cy="237744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65760" y="2139696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Marseglia Group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1600200" y="2139696"/>
            <a:ext cx="1207008" cy="237744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1645920" y="2139696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Avioact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2880360" y="2139696"/>
            <a:ext cx="1207008" cy="237744"/>
          </a:xfrm>
          <a:prstGeom prst="rect">
            <a:avLst/>
          </a:prstGeom>
          <a:solidFill>
            <a:srgbClr val="0353A4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926080" y="2139696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Teklab</a:t>
            </a:r>
            <a:endParaRPr lang="en-US" sz="750" dirty="0"/>
          </a:p>
        </p:txBody>
      </p:sp>
      <p:sp>
        <p:nvSpPr>
          <p:cNvPr id="37" name="Shape 35"/>
          <p:cNvSpPr/>
          <p:nvPr/>
        </p:nvSpPr>
        <p:spPr>
          <a:xfrm>
            <a:off x="320040" y="2441448"/>
            <a:ext cx="1207008" cy="237744"/>
          </a:xfrm>
          <a:prstGeom prst="rect">
            <a:avLst/>
          </a:prstGeom>
          <a:solidFill>
            <a:srgbClr val="023E8A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65760" y="244144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Gruppo Api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1600200" y="2441448"/>
            <a:ext cx="1207008" cy="237744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645920" y="244144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Dompé</a:t>
            </a:r>
            <a:endParaRPr lang="en-US" sz="750" dirty="0"/>
          </a:p>
        </p:txBody>
      </p:sp>
      <p:sp>
        <p:nvSpPr>
          <p:cNvPr id="41" name="Shape 39"/>
          <p:cNvSpPr/>
          <p:nvPr/>
        </p:nvSpPr>
        <p:spPr>
          <a:xfrm>
            <a:off x="2880360" y="2441448"/>
            <a:ext cx="1207008" cy="237744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926080" y="2441448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Caleffi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320040" y="2743200"/>
            <a:ext cx="1207008" cy="237744"/>
          </a:xfrm>
          <a:prstGeom prst="rect">
            <a:avLst/>
          </a:prstGeom>
          <a:solidFill>
            <a:srgbClr val="0353A4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65760" y="274320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Sonatech</a:t>
            </a:r>
            <a:endParaRPr lang="en-US" sz="750" dirty="0"/>
          </a:p>
        </p:txBody>
      </p:sp>
      <p:sp>
        <p:nvSpPr>
          <p:cNvPr id="45" name="Shape 43"/>
          <p:cNvSpPr/>
          <p:nvPr/>
        </p:nvSpPr>
        <p:spPr>
          <a:xfrm>
            <a:off x="1600200" y="2743200"/>
            <a:ext cx="1207008" cy="237744"/>
          </a:xfrm>
          <a:prstGeom prst="rect">
            <a:avLst/>
          </a:prstGeom>
          <a:solidFill>
            <a:srgbClr val="023E8A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645920" y="274320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AIMAG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2880360" y="2743200"/>
            <a:ext cx="1207008" cy="237744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926080" y="2743200"/>
            <a:ext cx="111556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Procesa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4297680" y="621792"/>
            <a:ext cx="4572000" cy="2560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407408" y="621792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Event &amp; Campaign did</a:t>
            </a:r>
            <a:endParaRPr lang="en-US" sz="1100" dirty="0"/>
          </a:p>
        </p:txBody>
      </p:sp>
      <p:sp>
        <p:nvSpPr>
          <p:cNvPr id="51" name="Shape 49"/>
          <p:cNvSpPr/>
          <p:nvPr/>
        </p:nvSpPr>
        <p:spPr>
          <a:xfrm>
            <a:off x="4297680" y="877824"/>
            <a:ext cx="4572000" cy="204368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407408" y="914400"/>
            <a:ext cx="4389120" cy="1970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Executive Summit 2026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SAP Transformation Campaign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SAP Executive Forum EMEA 2026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NOW AI 2026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4297680" y="3031236"/>
            <a:ext cx="4572000" cy="2560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407408" y="3031236"/>
            <a:ext cx="4434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Activities did</a:t>
            </a:r>
            <a:endParaRPr lang="en-US" sz="1100" dirty="0"/>
          </a:p>
        </p:txBody>
      </p:sp>
      <p:sp>
        <p:nvSpPr>
          <p:cNvPr id="55" name="Shape 53"/>
          <p:cNvSpPr/>
          <p:nvPr/>
        </p:nvSpPr>
        <p:spPr>
          <a:xfrm>
            <a:off x="4297680" y="3287268"/>
            <a:ext cx="4572000" cy="2043684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4407408" y="3323844"/>
            <a:ext cx="4389120" cy="197053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#2 sales &amp; technical enablement workshop: SAP Business AI, SAP BDC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Joint Account Plan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Top account plan (Eni versalis, Fincantieri, Bolton)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6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4160520" cy="2071116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74320" y="621792"/>
            <a:ext cx="54864" cy="207111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69494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Main SAP Solution Focus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384048" y="950976"/>
            <a:ext cx="3977640" cy="1687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Business Suite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Business AI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Business Data Cloud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BTP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BTM (Signavio, etc.)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621792"/>
            <a:ext cx="4160520" cy="2071116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709160" y="621792"/>
            <a:ext cx="54864" cy="207111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818888" y="694944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Consulting Role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818888" y="950976"/>
            <a:ext cx="3977640" cy="1687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We help clients envision &amp; define the future, transform their business, manage, and continually improve their systems to achieve business value with proven ROI.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830068"/>
            <a:ext cx="4160520" cy="2071116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2830068"/>
            <a:ext cx="54864" cy="207111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84048" y="290322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Priority Industry Focus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384048" y="3159252"/>
            <a:ext cx="3977640" cy="16870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Manufacturing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Pharma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Retail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CPG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Mill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Utilities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Oil &amp; Gas (Energy)</a:t>
            </a:r>
            <a:pPr algn="l" indent="0" marL="0">
              <a:lnSpc>
                <a:spcPct val="115000"/>
              </a:lnSpc>
              <a:spcBef>
                <a:spcPts val="200"/>
              </a:spcBef>
              <a:spcAft>
                <a:spcPts val="300"/>
              </a:spcAft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Fashion/Luxury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830068"/>
            <a:ext cx="4160520" cy="2071116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09160" y="2830068"/>
            <a:ext cx="54864" cy="207111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18888" y="2903220"/>
            <a:ext cx="397764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Italy Addressed Market with SAP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818888" y="3195828"/>
            <a:ext cx="3931920" cy="310896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92040" y="3195828"/>
            <a:ext cx="378561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Large Enterprise (&gt;1bn) — Top Account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956048" y="3579876"/>
            <a:ext cx="3657600" cy="310896"/>
          </a:xfrm>
          <a:prstGeom prst="rect">
            <a:avLst/>
          </a:prstGeom>
          <a:solidFill>
            <a:srgbClr val="0353A4"/>
          </a:solidFill>
          <a:ln w="12700">
            <a:solidFill>
              <a:srgbClr val="0353A4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029200" y="3579876"/>
            <a:ext cx="35112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Upper Mid Market (500–700M€)</a:t>
            </a:r>
            <a:endParaRPr lang="en-US" sz="850" dirty="0"/>
          </a:p>
        </p:txBody>
      </p:sp>
      <p:sp>
        <p:nvSpPr>
          <p:cNvPr id="24" name="Shape 22"/>
          <p:cNvSpPr/>
          <p:nvPr/>
        </p:nvSpPr>
        <p:spPr>
          <a:xfrm>
            <a:off x="5093208" y="3963924"/>
            <a:ext cx="3383280" cy="310896"/>
          </a:xfrm>
          <a:prstGeom prst="rect">
            <a:avLst/>
          </a:prstGeom>
          <a:solidFill>
            <a:srgbClr val="0369A1"/>
          </a:solidFill>
          <a:ln w="12700">
            <a:solidFill>
              <a:srgbClr val="0369A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166360" y="3963924"/>
            <a:ext cx="323697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Low Mid Market (&lt;500M€)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7</a:t>
            </a:r>
            <a:endParaRPr lang="en-US" sz="7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Main Opportunity Q4/2026 &amp; FY2027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416052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217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4160520" cy="78089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32688"/>
            <a:ext cx="1580998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Fincantieri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938528" y="932688"/>
            <a:ext cx="1331366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BTM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69894" y="932688"/>
            <a:ext cx="1081735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0.3M ACV / ??? TCV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677010"/>
            <a:ext cx="4160520" cy="780898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84048" y="1713586"/>
            <a:ext cx="1580998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Bolton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1938528" y="1713586"/>
            <a:ext cx="1331366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SW ccflex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69894" y="1713586"/>
            <a:ext cx="1081735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5.7M ACV / 5.7M TCV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457907"/>
            <a:ext cx="4160520" cy="78089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84048" y="2494483"/>
            <a:ext cx="1580998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938528" y="2494483"/>
            <a:ext cx="1331366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BDC ccflex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69894" y="2494483"/>
            <a:ext cx="1081735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0.3M ACV / ??? TCV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274320" y="3238805"/>
            <a:ext cx="4160520" cy="780898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4048" y="3275381"/>
            <a:ext cx="1580998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IBSA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938528" y="3275381"/>
            <a:ext cx="1331366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 ccflex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3269894" y="3275381"/>
            <a:ext cx="1081735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1.3M ACV / 6.5M TCV</a:t>
            </a:r>
            <a:endParaRPr lang="en-US" sz="800" dirty="0"/>
          </a:p>
        </p:txBody>
      </p:sp>
      <p:sp>
        <p:nvSpPr>
          <p:cNvPr id="23" name="Shape 21"/>
          <p:cNvSpPr/>
          <p:nvPr/>
        </p:nvSpPr>
        <p:spPr>
          <a:xfrm>
            <a:off x="274320" y="4019702"/>
            <a:ext cx="4160520" cy="780898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84048" y="4056278"/>
            <a:ext cx="1580998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Recordati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938528" y="4056278"/>
            <a:ext cx="1331366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 ccflex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69894" y="4056278"/>
            <a:ext cx="1081735" cy="70774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1.3M ACV / 6.5M TCV</a:t>
            </a:r>
            <a:endParaRPr lang="en-US" sz="800" dirty="0"/>
          </a:p>
        </p:txBody>
      </p:sp>
      <p:sp>
        <p:nvSpPr>
          <p:cNvPr id="27" name="Shape 25"/>
          <p:cNvSpPr/>
          <p:nvPr/>
        </p:nvSpPr>
        <p:spPr>
          <a:xfrm>
            <a:off x="4709160" y="621792"/>
            <a:ext cx="4160520" cy="274320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18888" y="621792"/>
            <a:ext cx="3977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2027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09160" y="896112"/>
            <a:ext cx="4160520" cy="9761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18888" y="932688"/>
            <a:ext cx="1580998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Eni Versalis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6373368" y="932688"/>
            <a:ext cx="1331366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S4/HANA-RISE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704734" y="932688"/>
            <a:ext cx="108173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3/4M ACV / 15/20M TCV</a:t>
            </a:r>
            <a:endParaRPr lang="en-US" sz="800" dirty="0"/>
          </a:p>
        </p:txBody>
      </p:sp>
      <p:sp>
        <p:nvSpPr>
          <p:cNvPr id="33" name="Shape 31"/>
          <p:cNvSpPr/>
          <p:nvPr/>
        </p:nvSpPr>
        <p:spPr>
          <a:xfrm>
            <a:off x="4709160" y="1872234"/>
            <a:ext cx="4160520" cy="97612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818888" y="1908810"/>
            <a:ext cx="1580998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Menarini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373368" y="1908810"/>
            <a:ext cx="1331366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 ccflex</a:t>
            </a:r>
            <a:endParaRPr lang="en-US" sz="850" dirty="0"/>
          </a:p>
        </p:txBody>
      </p:sp>
      <p:sp>
        <p:nvSpPr>
          <p:cNvPr id="36" name="Text 34"/>
          <p:cNvSpPr/>
          <p:nvPr/>
        </p:nvSpPr>
        <p:spPr>
          <a:xfrm>
            <a:off x="7704734" y="1908810"/>
            <a:ext cx="108173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1.5M ACV / 7.5M TCV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4709160" y="2848356"/>
            <a:ext cx="4160520" cy="9761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818888" y="2884932"/>
            <a:ext cx="1580998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Colacem</a:t>
            </a:r>
            <a:endParaRPr lang="en-US" sz="900" dirty="0"/>
          </a:p>
        </p:txBody>
      </p:sp>
      <p:sp>
        <p:nvSpPr>
          <p:cNvPr id="39" name="Text 37"/>
          <p:cNvSpPr/>
          <p:nvPr/>
        </p:nvSpPr>
        <p:spPr>
          <a:xfrm>
            <a:off x="6373368" y="2884932"/>
            <a:ext cx="1331366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 ccflex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7704734" y="2884932"/>
            <a:ext cx="1081735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0.22M ACV / 1.1M TCV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4709160" y="3824478"/>
            <a:ext cx="4160520" cy="97612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3861054"/>
            <a:ext cx="1580998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Rigo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373368" y="3861054"/>
            <a:ext cx="1331366" cy="9029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 ccflex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45" name="Text 4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8</a:t>
            </a:r>
            <a:endParaRPr lang="en-US" sz="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Customer &amp; Initiative for joint GTM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621792"/>
            <a:ext cx="416052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84048" y="6217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customer to open jointly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74320" y="896112"/>
            <a:ext cx="4160520" cy="3931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969264"/>
            <a:ext cx="3886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969264"/>
            <a:ext cx="54864" cy="86868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30352" y="106070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Marcegaglia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30352" y="137160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rise, ccflex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11480" y="2066544"/>
            <a:ext cx="3886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11480" y="2066544"/>
            <a:ext cx="54864" cy="86868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30352" y="215798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Cremonini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530352" y="246888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rise, ccflex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11480" y="3163824"/>
            <a:ext cx="3886200" cy="868680"/>
          </a:xfrm>
          <a:prstGeom prst="rect">
            <a:avLst/>
          </a:prstGeom>
          <a:solidFill>
            <a:srgbClr val="FFFF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11480" y="3163824"/>
            <a:ext cx="54864" cy="86868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0352" y="3255264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Cementir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30352" y="3566160"/>
            <a:ext cx="370332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rise, ccflex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709160" y="621792"/>
            <a:ext cx="416052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18888" y="62179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initiative to open/expand jointly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709160" y="896112"/>
            <a:ext cx="4160520" cy="3931920"/>
          </a:xfrm>
          <a:prstGeom prst="rect">
            <a:avLst/>
          </a:prstGeom>
          <a:solidFill>
            <a:srgbClr val="F4F4F4"/>
          </a:solidFill>
          <a:ln w="12700">
            <a:solidFill>
              <a:srgbClr val="E0E0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46320" y="969264"/>
            <a:ext cx="3886200" cy="841248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956048" y="1078992"/>
            <a:ext cx="3666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Fashion/Luxury Initiative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4846320" y="2048256"/>
            <a:ext cx="3886200" cy="841248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956048" y="2157984"/>
            <a:ext cx="3666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4846320" y="3127248"/>
            <a:ext cx="3886200" cy="841248"/>
          </a:xfrm>
          <a:prstGeom prst="rect">
            <a:avLst/>
          </a:prstGeom>
          <a:solidFill>
            <a:srgbClr val="0353A4"/>
          </a:solidFill>
          <a:ln w="12700">
            <a:solidFill>
              <a:srgbClr val="0353A4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956048" y="3236976"/>
            <a:ext cx="3666744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EMEA SAP/IBM SCP Initiative</a:t>
            </a:r>
            <a:endParaRPr lang="en-US" sz="115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(ENI, Luxottica, Ferrero)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30" name="Text 28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9</a:t>
            </a:r>
            <a:endParaRPr lang="en-US" sz="7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Ask &amp; Next steps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749808"/>
            <a:ext cx="1943100" cy="3200400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971550" y="97840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71550" y="978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11480" y="1709928"/>
            <a:ext cx="16687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Set-up Recurring Executive Business call (Monthly/Quarterly)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91740" y="749808"/>
            <a:ext cx="1943100" cy="3200400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88970" y="97840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88970" y="978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3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2628900" y="1709928"/>
            <a:ext cx="16687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Agree on Joint GTM on selected named account &amp; Initiative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709160" y="749808"/>
            <a:ext cx="1943100" cy="3200400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06390" y="97840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406390" y="978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4846320" y="1709928"/>
            <a:ext cx="16687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Create a Joint Value proposition SAP AI &amp; IBM ICA/Watson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926580" y="749808"/>
            <a:ext cx="1943100" cy="3200400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23810" y="978408"/>
            <a:ext cx="548640" cy="54864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23810" y="978408"/>
            <a:ext cx="548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43C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063740" y="1709928"/>
            <a:ext cx="1668780" cy="2057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Join event SAP, IBM Consulting on AI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22" name="Text 20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</a:t>
            </a:r>
            <a:endParaRPr lang="en-US" sz="7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840480" cy="514807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840480" y="0"/>
            <a:ext cx="5303520" cy="5148072"/>
          </a:xfrm>
          <a:prstGeom prst="rect">
            <a:avLst/>
          </a:prstGeom>
          <a:ln w="12700">
            <a:solidFill>
              <a:srgbClr val="E0E0E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0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3168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31536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089904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48272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406640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65008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8723376" y="0"/>
            <a:ext cx="0" cy="5148072"/>
          </a:xfrm>
          <a:prstGeom prst="line">
            <a:avLst/>
          </a:prstGeom>
          <a:noFill/>
          <a:ln w="6350">
            <a:solidFill>
              <a:srgbClr val="A0C4FF">
                <a:alpha val="4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" y="1280160"/>
            <a:ext cx="3383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</a:t>
            </a:r>
            <a:endParaRPr lang="en-US" sz="28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2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– SAP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320040" y="2834640"/>
            <a:ext cx="3383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C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Milano, 26/10/2026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320040" y="4370832"/>
            <a:ext cx="640080" cy="32004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86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</a:t>
            </a:r>
            <a:endParaRPr lang="en-US" sz="1386" dirty="0"/>
          </a:p>
        </p:txBody>
      </p:sp>
      <p:sp>
        <p:nvSpPr>
          <p:cNvPr id="16" name="Shape 14"/>
          <p:cNvSpPr/>
          <p:nvPr/>
        </p:nvSpPr>
        <p:spPr>
          <a:xfrm>
            <a:off x="1051560" y="4370832"/>
            <a:ext cx="640080" cy="320040"/>
          </a:xfrm>
          <a:prstGeom prst="rect">
            <a:avLst/>
          </a:prstGeom>
          <a:solidFill>
            <a:srgbClr val="1B73BE"/>
          </a:solidFill>
          <a:ln w="12700">
            <a:solidFill>
              <a:srgbClr val="1B73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51560" y="4370832"/>
            <a:ext cx="6400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1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</a:t>
            </a:r>
            <a:endParaRPr lang="en-US" sz="1210" dirty="0"/>
          </a:p>
        </p:txBody>
      </p:sp>
      <p:sp>
        <p:nvSpPr>
          <p:cNvPr id="18" name="Text 16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11</a:t>
            </a:r>
            <a:endParaRPr lang="en-US" sz="7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Plan 2027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94360"/>
            <a:ext cx="8595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Our SAP ambitions FY2027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1051560"/>
            <a:ext cx="1499616" cy="2926080"/>
          </a:xfrm>
          <a:prstGeom prst="rect">
            <a:avLst/>
          </a:prstGeom>
          <a:solidFill>
            <a:srgbClr val="0F62FE"/>
          </a:solidFill>
          <a:ln w="19050">
            <a:solidFill>
              <a:srgbClr val="0043C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116128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C0D4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01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365760" y="1673352"/>
            <a:ext cx="131673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+30% Signing increase on SAP Service Area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048256" y="1051560"/>
            <a:ext cx="1499616" cy="2926080"/>
          </a:xfrm>
          <a:prstGeom prst="rect">
            <a:avLst/>
          </a:prstGeom>
          <a:solidFill>
            <a:srgbClr val="F4F4F4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48256" y="1051560"/>
            <a:ext cx="1499616" cy="548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139696" y="116128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02</a:t>
            </a:r>
            <a:endParaRPr lang="en-US" sz="2400" dirty="0"/>
          </a:p>
        </p:txBody>
      </p:sp>
      <p:sp>
        <p:nvSpPr>
          <p:cNvPr id="12" name="Text 10"/>
          <p:cNvSpPr/>
          <p:nvPr/>
        </p:nvSpPr>
        <p:spPr>
          <a:xfrm>
            <a:off x="2139696" y="1673352"/>
            <a:ext cx="131673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Become relevant player on SAP Rise &amp; SAP Innovation (SAP AI, Clean Core, BTP, SAP BDC)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822192" y="1051560"/>
            <a:ext cx="1499616" cy="2926080"/>
          </a:xfrm>
          <a:prstGeom prst="rect">
            <a:avLst/>
          </a:prstGeom>
          <a:solidFill>
            <a:srgbClr val="F4F4F4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822192" y="1051560"/>
            <a:ext cx="1499616" cy="548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913632" y="116128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3913632" y="1673352"/>
            <a:ext cx="131673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consultants: +20%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596128" y="1051560"/>
            <a:ext cx="1499616" cy="2926080"/>
          </a:xfrm>
          <a:prstGeom prst="rect">
            <a:avLst/>
          </a:prstGeom>
          <a:solidFill>
            <a:srgbClr val="F4F4F4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596128" y="1051560"/>
            <a:ext cx="1499616" cy="548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687568" y="116128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04</a:t>
            </a:r>
            <a:endParaRPr lang="en-US" sz="2400" dirty="0"/>
          </a:p>
        </p:txBody>
      </p:sp>
      <p:sp>
        <p:nvSpPr>
          <p:cNvPr id="20" name="Text 18"/>
          <p:cNvSpPr/>
          <p:nvPr/>
        </p:nvSpPr>
        <p:spPr>
          <a:xfrm>
            <a:off x="5687568" y="1673352"/>
            <a:ext cx="131673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certified consultants: +20%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370064" y="1051560"/>
            <a:ext cx="1499616" cy="2926080"/>
          </a:xfrm>
          <a:prstGeom prst="rect">
            <a:avLst/>
          </a:prstGeom>
          <a:solidFill>
            <a:srgbClr val="F4F4F4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370064" y="1051560"/>
            <a:ext cx="1499616" cy="54864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461504" y="1161288"/>
            <a:ext cx="1316736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05</a:t>
            </a:r>
            <a:endParaRPr lang="en-US" sz="2400" dirty="0"/>
          </a:p>
        </p:txBody>
      </p:sp>
      <p:sp>
        <p:nvSpPr>
          <p:cNvPr id="24" name="Text 22"/>
          <p:cNvSpPr/>
          <p:nvPr/>
        </p:nvSpPr>
        <p:spPr>
          <a:xfrm>
            <a:off x="7461504" y="1673352"/>
            <a:ext cx="1316736" cy="2148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Signing CCFLEX for 3M</a:t>
            </a:r>
            <a:endParaRPr lang="en-US" sz="950" dirty="0"/>
          </a:p>
        </p:txBody>
      </p:sp>
      <p:sp>
        <p:nvSpPr>
          <p:cNvPr id="25" name="Text 23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12</a:t>
            </a:r>
            <a:endParaRPr lang="en-US" sz="7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customer proposal for joint GTM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Collaborative deals &amp; projects/initiative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8595360" cy="2560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84048" y="932688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ONGOING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243584"/>
            <a:ext cx="137160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43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Bolton (ongoing)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1801368" y="1243584"/>
            <a:ext cx="1371600" cy="274320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47088" y="1243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Eni versalis (ongoing)</a:t>
            </a:r>
            <a:endParaRPr lang="en-US" sz="800" dirty="0"/>
          </a:p>
        </p:txBody>
      </p:sp>
      <p:sp>
        <p:nvSpPr>
          <p:cNvPr id="12" name="Shape 10"/>
          <p:cNvSpPr/>
          <p:nvPr/>
        </p:nvSpPr>
        <p:spPr>
          <a:xfrm>
            <a:off x="3282696" y="1243584"/>
            <a:ext cx="137160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328416" y="1243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Recordati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4764024" y="1243584"/>
            <a:ext cx="137160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809744" y="1243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Angelini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6245352" y="1243584"/>
            <a:ext cx="137160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291072" y="124358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Marcegaglia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320040" y="1609344"/>
            <a:ext cx="137160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Cremonini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801368" y="1609344"/>
            <a:ext cx="137160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847088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rigo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3282696" y="1609344"/>
            <a:ext cx="137160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328416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Colacem</a:t>
            </a:r>
            <a:endParaRPr lang="en-US" sz="800" dirty="0"/>
          </a:p>
        </p:txBody>
      </p:sp>
      <p:sp>
        <p:nvSpPr>
          <p:cNvPr id="24" name="Shape 22"/>
          <p:cNvSpPr/>
          <p:nvPr/>
        </p:nvSpPr>
        <p:spPr>
          <a:xfrm>
            <a:off x="4764024" y="1609344"/>
            <a:ext cx="137160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09744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Cementir</a:t>
            </a:r>
            <a:endParaRPr lang="en-US" sz="800" dirty="0"/>
          </a:p>
        </p:txBody>
      </p:sp>
      <p:sp>
        <p:nvSpPr>
          <p:cNvPr id="26" name="Shape 24"/>
          <p:cNvSpPr/>
          <p:nvPr/>
        </p:nvSpPr>
        <p:spPr>
          <a:xfrm>
            <a:off x="6245352" y="1609344"/>
            <a:ext cx="1371600" cy="274320"/>
          </a:xfrm>
          <a:prstGeom prst="rect">
            <a:avLst/>
          </a:prstGeom>
          <a:solidFill>
            <a:srgbClr val="F4F4F4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91072" y="1609344"/>
            <a:ext cx="12801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Veronesi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274320" y="2414016"/>
            <a:ext cx="8595360" cy="2560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84048" y="2414016"/>
            <a:ext cx="8458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MARKET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20040" y="2724912"/>
            <a:ext cx="1828800" cy="329184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1480" y="27249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Fashion/Luxury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2377440" y="2724912"/>
            <a:ext cx="1828800" cy="329184"/>
          </a:xfrm>
          <a:prstGeom prst="rect">
            <a:avLst/>
          </a:prstGeom>
          <a:solidFill>
            <a:srgbClr val="0043C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2468880" y="2724912"/>
            <a:ext cx="164592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Public (PAC)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35" name="Text 33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13</a:t>
            </a:r>
            <a:endParaRPr lang="en-US" sz="7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Collaborative Deals Q4 &amp; FY2027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274320" y="585216"/>
            <a:ext cx="8595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Collaborative deals &amp; projects/initiative Q4 &amp; FY2027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74320" y="932688"/>
            <a:ext cx="4160520" cy="77358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74320" y="932688"/>
            <a:ext cx="45720" cy="77358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84048" y="969264"/>
            <a:ext cx="1664208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Eni Versalis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2021738" y="969264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S4/HANA-RISE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186684" y="969264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18M TCV</a:t>
            </a:r>
            <a:endParaRPr lang="en-US" sz="800" dirty="0"/>
          </a:p>
        </p:txBody>
      </p:sp>
      <p:sp>
        <p:nvSpPr>
          <p:cNvPr id="11" name="Shape 9"/>
          <p:cNvSpPr/>
          <p:nvPr/>
        </p:nvSpPr>
        <p:spPr>
          <a:xfrm>
            <a:off x="274320" y="1706270"/>
            <a:ext cx="4160520" cy="77358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1706270"/>
            <a:ext cx="45720" cy="77358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" y="1742846"/>
            <a:ext cx="1664208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Fincantieri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2021738" y="1742846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SAP BTM</a:t>
            </a:r>
            <a:endParaRPr lang="en-US" sz="800" dirty="0"/>
          </a:p>
        </p:txBody>
      </p:sp>
      <p:sp>
        <p:nvSpPr>
          <p:cNvPr id="15" name="Shape 13"/>
          <p:cNvSpPr/>
          <p:nvPr/>
        </p:nvSpPr>
        <p:spPr>
          <a:xfrm>
            <a:off x="274320" y="2479853"/>
            <a:ext cx="4160520" cy="77358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2479853"/>
            <a:ext cx="45720" cy="77358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84048" y="2516429"/>
            <a:ext cx="1664208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Bolton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021738" y="2516429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ccflex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3186684" y="2516429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5.7M ACV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274320" y="3253435"/>
            <a:ext cx="4160520" cy="77358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74320" y="3253435"/>
            <a:ext cx="45720" cy="77358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4048" y="3290011"/>
            <a:ext cx="1664208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SAME SAP BDC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021738" y="3290011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endParaRPr lang="en-US" sz="800" dirty="0"/>
          </a:p>
        </p:txBody>
      </p:sp>
      <p:sp>
        <p:nvSpPr>
          <p:cNvPr id="24" name="Text 22"/>
          <p:cNvSpPr/>
          <p:nvPr/>
        </p:nvSpPr>
        <p:spPr>
          <a:xfrm>
            <a:off x="3186684" y="3290011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100K ACV / 300–500K TCV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74320" y="4027018"/>
            <a:ext cx="4160520" cy="77358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274320" y="4027018"/>
            <a:ext cx="45720" cy="77358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" y="4063594"/>
            <a:ext cx="1664208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IBSA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021738" y="4063594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</a:t>
            </a:r>
            <a:endParaRPr lang="en-US" sz="800" dirty="0"/>
          </a:p>
        </p:txBody>
      </p:sp>
      <p:sp>
        <p:nvSpPr>
          <p:cNvPr id="29" name="Text 27"/>
          <p:cNvSpPr/>
          <p:nvPr/>
        </p:nvSpPr>
        <p:spPr>
          <a:xfrm>
            <a:off x="3186684" y="4063594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1.3M ACV / 6.5M TCV</a:t>
            </a:r>
            <a:endParaRPr lang="en-US" sz="800" dirty="0"/>
          </a:p>
        </p:txBody>
      </p:sp>
      <p:sp>
        <p:nvSpPr>
          <p:cNvPr id="30" name="Shape 28"/>
          <p:cNvSpPr/>
          <p:nvPr/>
        </p:nvSpPr>
        <p:spPr>
          <a:xfrm>
            <a:off x="4709160" y="932688"/>
            <a:ext cx="4160520" cy="77358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709160" y="932688"/>
            <a:ext cx="45720" cy="77358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818888" y="969264"/>
            <a:ext cx="1664208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Recordati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456578" y="969264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7621524" y="969264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1.3M ACV / 6.5M TCV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4709160" y="1706270"/>
            <a:ext cx="4160520" cy="77358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709160" y="1706270"/>
            <a:ext cx="45720" cy="77358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18888" y="1742846"/>
            <a:ext cx="1664208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Menarini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456578" y="1742846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 ccflex</a:t>
            </a:r>
            <a:endParaRPr lang="en-US" sz="800" dirty="0"/>
          </a:p>
        </p:txBody>
      </p:sp>
      <p:sp>
        <p:nvSpPr>
          <p:cNvPr id="39" name="Text 37"/>
          <p:cNvSpPr/>
          <p:nvPr/>
        </p:nvSpPr>
        <p:spPr>
          <a:xfrm>
            <a:off x="7621524" y="1742846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1.5M ACV / 7.5M TCV</a:t>
            </a:r>
            <a:endParaRPr lang="en-US" sz="800" dirty="0"/>
          </a:p>
        </p:txBody>
      </p:sp>
      <p:sp>
        <p:nvSpPr>
          <p:cNvPr id="40" name="Shape 38"/>
          <p:cNvSpPr/>
          <p:nvPr/>
        </p:nvSpPr>
        <p:spPr>
          <a:xfrm>
            <a:off x="4709160" y="2479853"/>
            <a:ext cx="4160520" cy="77358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09160" y="2479853"/>
            <a:ext cx="45720" cy="77358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818888" y="2516429"/>
            <a:ext cx="1664208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Colacem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6456578" y="2516429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 ccflex</a:t>
            </a:r>
            <a:endParaRPr lang="en-US" sz="800" dirty="0"/>
          </a:p>
        </p:txBody>
      </p:sp>
      <p:sp>
        <p:nvSpPr>
          <p:cNvPr id="44" name="Text 42"/>
          <p:cNvSpPr/>
          <p:nvPr/>
        </p:nvSpPr>
        <p:spPr>
          <a:xfrm>
            <a:off x="7621524" y="2516429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0F62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220K ACV / 1.1M TCV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4709160" y="3253435"/>
            <a:ext cx="4160520" cy="773582"/>
          </a:xfrm>
          <a:prstGeom prst="rect">
            <a:avLst/>
          </a:prstGeom>
          <a:solidFill>
            <a:srgbClr val="F4F4F4"/>
          </a:solidFill>
          <a:ln w="6350">
            <a:solidFill>
              <a:srgbClr val="E0E0E0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709160" y="3253435"/>
            <a:ext cx="45720" cy="77358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818888" y="3290011"/>
            <a:ext cx="1664208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De Rigo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456578" y="3290011"/>
            <a:ext cx="1164946" cy="70043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move to rise ccflex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4709160" y="4118458"/>
            <a:ext cx="4160520" cy="256032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818888" y="4118458"/>
            <a:ext cx="4023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New customer to open jointly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52" name="Text 50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14</a:t>
            </a:r>
            <a:endParaRPr lang="en-US" sz="7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807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F62FE"/>
          </a:solidFill>
          <a:ln w="12700">
            <a:solidFill>
              <a:srgbClr val="0F62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0"/>
            <a:ext cx="85953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2026 Executive Meeting IBM – SAP : IBM Consulting Italy (Appendix)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474720" y="621792"/>
            <a:ext cx="2194560" cy="566928"/>
          </a:xfrm>
          <a:prstGeom prst="rect">
            <a:avLst/>
          </a:prstGeom>
          <a:solidFill>
            <a:srgbClr val="0F62FE"/>
          </a:solidFill>
          <a:ln w="12700">
            <a:solidFill>
              <a:srgbClr val="0043C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547872" y="685800"/>
            <a:ext cx="2048256" cy="2834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Tiziana Tornaghi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547872" y="905256"/>
            <a:ext cx="2048256" cy="260787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BFDB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Consulting Italy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BFDBFE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Managing Partner</a:t>
            </a:r>
            <a:endParaRPr lang="en-US" sz="700" dirty="0"/>
          </a:p>
        </p:txBody>
      </p:sp>
      <p:sp>
        <p:nvSpPr>
          <p:cNvPr id="8" name="Shape 6"/>
          <p:cNvSpPr/>
          <p:nvPr/>
        </p:nvSpPr>
        <p:spPr>
          <a:xfrm>
            <a:off x="4572000" y="1188720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152144" y="1325880"/>
            <a:ext cx="6839712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152144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38912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Cristina Ingrassia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438912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Commercial Sector</a:t>
            </a:r>
            <a:endParaRPr lang="en-US" sz="700" dirty="0"/>
          </a:p>
        </p:txBody>
      </p:sp>
      <p:sp>
        <p:nvSpPr>
          <p:cNvPr id="14" name="Shape 12"/>
          <p:cNvSpPr/>
          <p:nvPr/>
        </p:nvSpPr>
        <p:spPr>
          <a:xfrm>
            <a:off x="2862072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2075688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148840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Filippo Moroni</a:t>
            </a:r>
            <a:endParaRPr lang="en-US" sz="850" dirty="0"/>
          </a:p>
        </p:txBody>
      </p:sp>
      <p:sp>
        <p:nvSpPr>
          <p:cNvPr id="17" name="Text 15"/>
          <p:cNvSpPr/>
          <p:nvPr/>
        </p:nvSpPr>
        <p:spPr>
          <a:xfrm>
            <a:off x="2148840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Offering &amp; Growth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Strategic Sales</a:t>
            </a:r>
            <a:endParaRPr lang="en-US" sz="700" dirty="0"/>
          </a:p>
        </p:txBody>
      </p:sp>
      <p:sp>
        <p:nvSpPr>
          <p:cNvPr id="18" name="Shape 16"/>
          <p:cNvSpPr/>
          <p:nvPr/>
        </p:nvSpPr>
        <p:spPr>
          <a:xfrm>
            <a:off x="4572000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85616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858768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Claudia Bai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3858768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Solutions &amp; Delivery</a:t>
            </a:r>
            <a:endParaRPr lang="en-US" sz="700" dirty="0"/>
          </a:p>
        </p:txBody>
      </p:sp>
      <p:sp>
        <p:nvSpPr>
          <p:cNvPr id="22" name="Shape 20"/>
          <p:cNvSpPr/>
          <p:nvPr/>
        </p:nvSpPr>
        <p:spPr>
          <a:xfrm>
            <a:off x="6281928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95544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568696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Daniela Scaramuccia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5568696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Greater Public Sector</a:t>
            </a:r>
            <a:endParaRPr lang="en-US" sz="700" dirty="0"/>
          </a:p>
        </p:txBody>
      </p:sp>
      <p:sp>
        <p:nvSpPr>
          <p:cNvPr id="26" name="Shape 24"/>
          <p:cNvSpPr/>
          <p:nvPr/>
        </p:nvSpPr>
        <p:spPr>
          <a:xfrm>
            <a:off x="7991856" y="1325880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205472" y="1508760"/>
            <a:ext cx="1572768" cy="530352"/>
          </a:xfrm>
          <a:prstGeom prst="rect">
            <a:avLst/>
          </a:prstGeom>
          <a:solidFill>
            <a:srgbClr val="EFF6FF"/>
          </a:solidFill>
          <a:ln w="19050">
            <a:solidFill>
              <a:srgbClr val="0F62F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278624" y="1572768"/>
            <a:ext cx="1426464" cy="265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Raffaele Guerra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7278624" y="1773936"/>
            <a:ext cx="1426464" cy="24396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Financial Services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525252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Sector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1152144" y="2039112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-356616" y="2176272"/>
            <a:ext cx="301752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-356616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-1065276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-1019556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Fabio Cesaretti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Trenitalia</a:t>
            </a:r>
            <a:endParaRPr lang="en-US" sz="700" dirty="0"/>
          </a:p>
        </p:txBody>
      </p:sp>
      <p:sp>
        <p:nvSpPr>
          <p:cNvPr id="35" name="Shape 33"/>
          <p:cNvSpPr/>
          <p:nvPr/>
        </p:nvSpPr>
        <p:spPr>
          <a:xfrm>
            <a:off x="1152144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43484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89204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Fulvio D'Aloia Cascone</a:t>
            </a:r>
            <a:endParaRPr lang="en-US" sz="700" dirty="0"/>
          </a:p>
        </p:txBody>
      </p:sp>
      <p:sp>
        <p:nvSpPr>
          <p:cNvPr id="38" name="Shape 36"/>
          <p:cNvSpPr/>
          <p:nvPr/>
        </p:nvSpPr>
        <p:spPr>
          <a:xfrm>
            <a:off x="2660904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2244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97964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Marco Carlini</a:t>
            </a:r>
            <a:endParaRPr lang="en-US" sz="700" dirty="0"/>
          </a:p>
        </p:txBody>
      </p:sp>
      <p:sp>
        <p:nvSpPr>
          <p:cNvPr id="41" name="Shape 39"/>
          <p:cNvSpPr/>
          <p:nvPr/>
        </p:nvSpPr>
        <p:spPr>
          <a:xfrm>
            <a:off x="4572000" y="2039112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817620" y="2176272"/>
            <a:ext cx="1508760" cy="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817620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108960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154680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Gaetano Scioscia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FutureNow Ctr</a:t>
            </a:r>
            <a:endParaRPr lang="en-US" sz="700" dirty="0"/>
          </a:p>
        </p:txBody>
      </p:sp>
      <p:sp>
        <p:nvSpPr>
          <p:cNvPr id="46" name="Shape 44"/>
          <p:cNvSpPr/>
          <p:nvPr/>
        </p:nvSpPr>
        <p:spPr>
          <a:xfrm>
            <a:off x="5326380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4617720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663440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Stefano Brambilla</a:t>
            </a:r>
            <a:endParaRPr lang="en-US" sz="70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Sistemi Inf.</a:t>
            </a:r>
            <a:endParaRPr lang="en-US" sz="700" dirty="0"/>
          </a:p>
        </p:txBody>
      </p:sp>
      <p:sp>
        <p:nvSpPr>
          <p:cNvPr id="49" name="Shape 47"/>
          <p:cNvSpPr/>
          <p:nvPr/>
        </p:nvSpPr>
        <p:spPr>
          <a:xfrm>
            <a:off x="7991856" y="2039112"/>
            <a:ext cx="0" cy="13716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7991856" y="2176272"/>
            <a:ext cx="0" cy="182880"/>
          </a:xfrm>
          <a:prstGeom prst="line">
            <a:avLst/>
          </a:prstGeom>
          <a:noFill/>
          <a:ln w="12700">
            <a:solidFill>
              <a:srgbClr val="0F62FE"/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7283196" y="2359152"/>
            <a:ext cx="1417320" cy="411480"/>
          </a:xfrm>
          <a:prstGeom prst="rect">
            <a:avLst/>
          </a:prstGeom>
          <a:solidFill>
            <a:srgbClr val="DBEAFE"/>
          </a:solidFill>
          <a:ln w="9525">
            <a:solidFill>
              <a:srgbClr val="0F62F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328916" y="2395728"/>
            <a:ext cx="1325880" cy="3383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00" dirty="0">
                <a:solidFill>
                  <a:srgbClr val="161616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Insurance Industry</a:t>
            </a:r>
            <a:endParaRPr lang="en-US" sz="700" dirty="0"/>
          </a:p>
        </p:txBody>
      </p:sp>
      <p:sp>
        <p:nvSpPr>
          <p:cNvPr id="53" name="Text 51"/>
          <p:cNvSpPr/>
          <p:nvPr/>
        </p:nvSpPr>
        <p:spPr>
          <a:xfrm>
            <a:off x="274320" y="4892040"/>
            <a:ext cx="4572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IBM Confidential &amp; internal use only</a:t>
            </a:r>
            <a:endParaRPr lang="en-US" sz="700" dirty="0"/>
          </a:p>
        </p:txBody>
      </p:sp>
      <p:sp>
        <p:nvSpPr>
          <p:cNvPr id="54" name="Text 52"/>
          <p:cNvSpPr/>
          <p:nvPr/>
        </p:nvSpPr>
        <p:spPr>
          <a:xfrm>
            <a:off x="8686800" y="4892040"/>
            <a:ext cx="3657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F6F6F"/>
                </a:solidFill>
                <a:latin typeface="IBM Plex Sans" pitchFamily="34" charset="0"/>
                <a:ea typeface="IBM Plex Sans" pitchFamily="34" charset="-122"/>
                <a:cs typeface="IBM Plex Sans" pitchFamily="34" charset="-120"/>
              </a:rPr>
              <a:t>15</a:t>
            </a:r>
            <a:endParaRPr lang="en-US" sz="7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Executive Meeting IBM – SAP</dc:title>
  <dc:subject>IBM SAP Executive Meeting October 2026</dc:subject>
  <dc:creator>IBM Consulting Italy</dc:creator>
  <cp:lastModifiedBy>IBM Consulting Italy</cp:lastModifiedBy>
  <cp:revision>1</cp:revision>
  <dcterms:created xsi:type="dcterms:W3CDTF">2026-10-13T09:57:35Z</dcterms:created>
  <dcterms:modified xsi:type="dcterms:W3CDTF">2026-10-13T09:57:35Z</dcterms:modified>
</cp:coreProperties>
</file>